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Cerebri Bold" charset="1" panose="00000800000000000000"/>
      <p:regular r:id="rId27"/>
    </p:embeddedFont>
    <p:embeddedFont>
      <p:font typeface="Cerebri" charset="1" panose="00000500000000000000"/>
      <p:regular r:id="rId28"/>
    </p:embeddedFont>
    <p:embeddedFont>
      <p:font typeface="Arial MT Pro Bold" charset="1" panose="020B0802020202020204"/>
      <p:regular r:id="rId29"/>
    </p:embeddedFont>
    <p:embeddedFont>
      <p:font typeface="Cerebri Italics" charset="1" panose="0000050000000000000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901964">
            <a:off x="-4180757" y="4476940"/>
            <a:ext cx="17738016" cy="10436222"/>
          </a:xfrm>
          <a:custGeom>
            <a:avLst/>
            <a:gdLst/>
            <a:ahLst/>
            <a:cxnLst/>
            <a:rect r="r" b="b" t="t" l="l"/>
            <a:pathLst>
              <a:path h="10436222" w="17738016">
                <a:moveTo>
                  <a:pt x="0" y="0"/>
                </a:moveTo>
                <a:lnTo>
                  <a:pt x="17738016" y="0"/>
                </a:lnTo>
                <a:lnTo>
                  <a:pt x="17738016" y="10436222"/>
                </a:lnTo>
                <a:lnTo>
                  <a:pt x="0" y="104362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8901964">
            <a:off x="-3419549" y="3171882"/>
            <a:ext cx="16847419" cy="9484271"/>
            <a:chOff x="0" y="0"/>
            <a:chExt cx="1580679" cy="88984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80679" cy="889845"/>
            </a:xfrm>
            <a:custGeom>
              <a:avLst/>
              <a:gdLst/>
              <a:ahLst/>
              <a:cxnLst/>
              <a:rect r="r" b="b" t="t" l="l"/>
              <a:pathLst>
                <a:path h="889845" w="1580679">
                  <a:moveTo>
                    <a:pt x="0" y="0"/>
                  </a:moveTo>
                  <a:lnTo>
                    <a:pt x="1580679" y="0"/>
                  </a:lnTo>
                  <a:lnTo>
                    <a:pt x="1580679" y="889845"/>
                  </a:lnTo>
                  <a:lnTo>
                    <a:pt x="0" y="889845"/>
                  </a:lnTo>
                  <a:close/>
                </a:path>
              </a:pathLst>
            </a:custGeom>
            <a:solidFill>
              <a:srgbClr val="00263B">
                <a:alpha val="8000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580679" cy="9469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66732">
            <a:off x="-8104080" y="-2082081"/>
            <a:ext cx="20814934" cy="12246537"/>
          </a:xfrm>
          <a:custGeom>
            <a:avLst/>
            <a:gdLst/>
            <a:ahLst/>
            <a:cxnLst/>
            <a:rect r="r" b="b" t="t" l="l"/>
            <a:pathLst>
              <a:path h="12246537" w="20814934">
                <a:moveTo>
                  <a:pt x="0" y="0"/>
                </a:moveTo>
                <a:lnTo>
                  <a:pt x="20814933" y="0"/>
                </a:lnTo>
                <a:lnTo>
                  <a:pt x="20814933" y="12246537"/>
                </a:lnTo>
                <a:lnTo>
                  <a:pt x="0" y="122465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-3166732">
            <a:off x="-4556914" y="-3422450"/>
            <a:ext cx="19769849" cy="12698424"/>
            <a:chOff x="0" y="0"/>
            <a:chExt cx="1580679" cy="10152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80679" cy="1015290"/>
            </a:xfrm>
            <a:custGeom>
              <a:avLst/>
              <a:gdLst/>
              <a:ahLst/>
              <a:cxnLst/>
              <a:rect r="r" b="b" t="t" l="l"/>
              <a:pathLst>
                <a:path h="1015290" w="1580679">
                  <a:moveTo>
                    <a:pt x="0" y="0"/>
                  </a:moveTo>
                  <a:lnTo>
                    <a:pt x="1580679" y="0"/>
                  </a:lnTo>
                  <a:lnTo>
                    <a:pt x="1580679" y="1015290"/>
                  </a:lnTo>
                  <a:lnTo>
                    <a:pt x="0" y="101529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580679" cy="10724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0" id="10"/>
          <p:cNvSpPr/>
          <p:nvPr/>
        </p:nvSpPr>
        <p:spPr>
          <a:xfrm flipV="true">
            <a:off x="2126456" y="5080870"/>
            <a:ext cx="5527834" cy="19050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1949526" y="4903939"/>
            <a:ext cx="353861" cy="35386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263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473401" y="4903939"/>
            <a:ext cx="353861" cy="353861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263B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998712" y="4903939"/>
            <a:ext cx="353861" cy="353861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263B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234026" y="704134"/>
            <a:ext cx="3586271" cy="1793136"/>
          </a:xfrm>
          <a:custGeom>
            <a:avLst/>
            <a:gdLst/>
            <a:ahLst/>
            <a:cxnLst/>
            <a:rect r="r" b="b" t="t" l="l"/>
            <a:pathLst>
              <a:path h="1793136" w="3586271">
                <a:moveTo>
                  <a:pt x="0" y="0"/>
                </a:moveTo>
                <a:lnTo>
                  <a:pt x="3586271" y="0"/>
                </a:lnTo>
                <a:lnTo>
                  <a:pt x="3586271" y="1793136"/>
                </a:lnTo>
                <a:lnTo>
                  <a:pt x="0" y="17931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3823696" y="1524502"/>
            <a:ext cx="5698637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b="true" sz="3999" spc="-159">
                <a:solidFill>
                  <a:srgbClr val="000000"/>
                </a:solidFill>
                <a:latin typeface="Cerebri Bold"/>
                <a:ea typeface="Cerebri Bold"/>
                <a:cs typeface="Cerebri Bold"/>
                <a:sym typeface="Cerebri Bold"/>
              </a:rPr>
              <a:t>Universidade da Maia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70734" y="3847934"/>
            <a:ext cx="10013828" cy="679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b="true" sz="3999" spc="-159">
                <a:solidFill>
                  <a:srgbClr val="00263B"/>
                </a:solidFill>
                <a:latin typeface="Cerebri Bold"/>
                <a:ea typeface="Cerebri Bold"/>
                <a:cs typeface="Cerebri Bold"/>
                <a:sym typeface="Cerebri Bold"/>
              </a:rPr>
              <a:t>Sistema de Gestão de Avaliações Escolares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70734" y="5579501"/>
            <a:ext cx="9770585" cy="2725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8"/>
              </a:lnSpc>
            </a:pPr>
            <a:r>
              <a:rPr lang="en-US" sz="3025" spc="-90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Disciplina: Arquitetura e Desenho de Software</a:t>
            </a:r>
          </a:p>
          <a:p>
            <a:pPr algn="l">
              <a:lnSpc>
                <a:spcPts val="4538"/>
              </a:lnSpc>
            </a:pPr>
            <a:r>
              <a:rPr lang="en-US" sz="3025" spc="-90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Professor: Dr. Alexandre Valente Conceição Pereira Sousa</a:t>
            </a:r>
          </a:p>
          <a:p>
            <a:pPr algn="l">
              <a:lnSpc>
                <a:spcPts val="4538"/>
              </a:lnSpc>
            </a:pPr>
            <a:r>
              <a:rPr lang="en-US" sz="3025" spc="-90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Aluna: Ileana Karla Antunes de Souza (A046152)</a:t>
            </a:r>
          </a:p>
          <a:p>
            <a:pPr algn="l">
              <a:lnSpc>
                <a:spcPts val="4538"/>
              </a:lnSpc>
            </a:pPr>
            <a:r>
              <a:rPr lang="en-US" sz="3025" spc="-90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Linguagem: Python | Framework: Django</a:t>
            </a:r>
          </a:p>
          <a:p>
            <a:pPr algn="l">
              <a:lnSpc>
                <a:spcPts val="3643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870734" y="2640979"/>
            <a:ext cx="6238093" cy="514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spc="-120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Mestrado em Informática (E-Learning)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0819117" y="-19050"/>
            <a:ext cx="11088269" cy="10697118"/>
          </a:xfrm>
          <a:custGeom>
            <a:avLst/>
            <a:gdLst/>
            <a:ahLst/>
            <a:cxnLst/>
            <a:rect r="r" b="b" t="t" l="l"/>
            <a:pathLst>
              <a:path h="10697118" w="11088269">
                <a:moveTo>
                  <a:pt x="0" y="0"/>
                </a:moveTo>
                <a:lnTo>
                  <a:pt x="11088269" y="0"/>
                </a:lnTo>
                <a:lnTo>
                  <a:pt x="11088269" y="10697118"/>
                </a:lnTo>
                <a:lnTo>
                  <a:pt x="0" y="106971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64877" y="3795712"/>
            <a:ext cx="18659475" cy="4272244"/>
            <a:chOff x="0" y="0"/>
            <a:chExt cx="4914430" cy="11252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914429" cy="1125200"/>
            </a:xfrm>
            <a:custGeom>
              <a:avLst/>
              <a:gdLst/>
              <a:ahLst/>
              <a:cxnLst/>
              <a:rect r="r" b="b" t="t" l="l"/>
              <a:pathLst>
                <a:path h="1125200" w="4914429">
                  <a:moveTo>
                    <a:pt x="0" y="0"/>
                  </a:moveTo>
                  <a:lnTo>
                    <a:pt x="4914429" y="0"/>
                  </a:lnTo>
                  <a:lnTo>
                    <a:pt x="4914429" y="1125200"/>
                  </a:lnTo>
                  <a:lnTo>
                    <a:pt x="0" y="1125200"/>
                  </a:lnTo>
                  <a:close/>
                </a:path>
              </a:pathLst>
            </a:custGeom>
            <a:ln w="57150" cap="sq">
              <a:solidFill>
                <a:srgbClr val="00263B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914430" cy="1182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402269" y="8325897"/>
            <a:ext cx="1179006" cy="1179006"/>
          </a:xfrm>
          <a:custGeom>
            <a:avLst/>
            <a:gdLst/>
            <a:ahLst/>
            <a:cxnLst/>
            <a:rect r="r" b="b" t="t" l="l"/>
            <a:pathLst>
              <a:path h="1179006" w="1179006">
                <a:moveTo>
                  <a:pt x="0" y="0"/>
                </a:moveTo>
                <a:lnTo>
                  <a:pt x="1179006" y="0"/>
                </a:lnTo>
                <a:lnTo>
                  <a:pt x="1179006" y="1179006"/>
                </a:lnTo>
                <a:lnTo>
                  <a:pt x="0" y="11790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178553" y="0"/>
            <a:ext cx="9476509" cy="10287000"/>
          </a:xfrm>
          <a:custGeom>
            <a:avLst/>
            <a:gdLst/>
            <a:ahLst/>
            <a:cxnLst/>
            <a:rect r="r" b="b" t="t" l="l"/>
            <a:pathLst>
              <a:path h="10287000" w="9476509">
                <a:moveTo>
                  <a:pt x="0" y="0"/>
                </a:moveTo>
                <a:lnTo>
                  <a:pt x="9476510" y="0"/>
                </a:lnTo>
                <a:lnTo>
                  <a:pt x="947651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825315" y="4322110"/>
            <a:ext cx="11305613" cy="3161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980" indent="-367490" lvl="1">
              <a:lnSpc>
                <a:spcPts val="5106"/>
              </a:lnSpc>
              <a:buFont typeface="Arial"/>
              <a:buChar char="•"/>
            </a:pP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Avaliações escolares ainda muito dependentes de Excel</a:t>
            </a:r>
          </a:p>
          <a:p>
            <a:pPr algn="l" marL="734980" indent="-367490" lvl="1">
              <a:lnSpc>
                <a:spcPts val="5106"/>
              </a:lnSpc>
              <a:buFont typeface="Arial"/>
              <a:buChar char="•"/>
            </a:pP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Reg</a:t>
            </a: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ras complexas de cálculo</a:t>
            </a:r>
          </a:p>
          <a:p>
            <a:pPr algn="l" marL="734980" indent="-367490" lvl="1">
              <a:lnSpc>
                <a:spcPts val="5106"/>
              </a:lnSpc>
              <a:buFont typeface="Arial"/>
              <a:buChar char="•"/>
            </a:pP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Diferenças entre ensino básico, secundário e profissional</a:t>
            </a:r>
          </a:p>
          <a:p>
            <a:pPr algn="l" marL="734980" indent="-367490" lvl="1">
              <a:lnSpc>
                <a:spcPts val="5106"/>
              </a:lnSpc>
              <a:buFont typeface="Arial"/>
              <a:buChar char="•"/>
            </a:pP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Necessidade de acompanhamento do progresso dos alunos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1793782"/>
            <a:ext cx="9308840" cy="1028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 spc="-240">
                <a:solidFill>
                  <a:srgbClr val="00263B"/>
                </a:solidFill>
                <a:latin typeface="Cerebri Bold"/>
                <a:ea typeface="Cerebri Bold"/>
                <a:cs typeface="Cerebri Bold"/>
                <a:sym typeface="Cerebri Bold"/>
              </a:rPr>
              <a:t>Contexto e Motivação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79614" y="8528450"/>
            <a:ext cx="565449" cy="744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40"/>
              </a:lnSpc>
            </a:pPr>
            <a:r>
              <a:rPr lang="en-US" b="true" sz="3886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79302" y="2816132"/>
            <a:ext cx="14725369" cy="4272244"/>
            <a:chOff x="0" y="0"/>
            <a:chExt cx="3878287" cy="11252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78287" cy="1125200"/>
            </a:xfrm>
            <a:custGeom>
              <a:avLst/>
              <a:gdLst/>
              <a:ahLst/>
              <a:cxnLst/>
              <a:rect r="r" b="b" t="t" l="l"/>
              <a:pathLst>
                <a:path h="1125200" w="3878287">
                  <a:moveTo>
                    <a:pt x="0" y="0"/>
                  </a:moveTo>
                  <a:lnTo>
                    <a:pt x="3878287" y="0"/>
                  </a:lnTo>
                  <a:lnTo>
                    <a:pt x="3878287" y="1125200"/>
                  </a:lnTo>
                  <a:lnTo>
                    <a:pt x="0" y="1125200"/>
                  </a:lnTo>
                  <a:close/>
                </a:path>
              </a:pathLst>
            </a:custGeom>
            <a:ln w="57150" cap="sq">
              <a:solidFill>
                <a:srgbClr val="00263B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3878287" cy="1182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798658" y="3341875"/>
            <a:ext cx="14506013" cy="3204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979" indent="-367490" lvl="1">
              <a:lnSpc>
                <a:spcPts val="5106"/>
              </a:lnSpc>
              <a:buFont typeface="Arial"/>
              <a:buChar char="•"/>
            </a:pP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Gerir aval</a:t>
            </a: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ia</a:t>
            </a: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çõe</a:t>
            </a: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s</a:t>
            </a: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 escolares de forma e</a:t>
            </a: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s</a:t>
            </a: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tru</a:t>
            </a: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t</a:t>
            </a: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ur</a:t>
            </a: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a</a:t>
            </a: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d</a:t>
            </a: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a</a:t>
            </a:r>
          </a:p>
          <a:p>
            <a:pPr algn="l" marL="734979" indent="-367490" lvl="1">
              <a:lnSpc>
                <a:spcPts val="5106"/>
              </a:lnSpc>
              <a:buFont typeface="Arial"/>
              <a:buChar char="•"/>
            </a:pP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Automat</a:t>
            </a: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izar cálculos de notas, níveis e menções (quantitativas e qualitativas)</a:t>
            </a:r>
          </a:p>
          <a:p>
            <a:pPr algn="l" marL="734979" indent="-367490" lvl="1">
              <a:lnSpc>
                <a:spcPts val="5106"/>
              </a:lnSpc>
              <a:buFont typeface="Arial"/>
              <a:buChar char="•"/>
            </a:pP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Suportar vários contex</a:t>
            </a: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t</a:t>
            </a: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os de ensino</a:t>
            </a:r>
          </a:p>
          <a:p>
            <a:pPr algn="l" marL="734979" indent="-367490" lvl="1">
              <a:lnSpc>
                <a:spcPts val="5106"/>
              </a:lnSpc>
              <a:buFont typeface="Arial"/>
              <a:buChar char="•"/>
            </a:pP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Facilitar o acompanhamento </a:t>
            </a: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p</a:t>
            </a: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ed</a:t>
            </a: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a</a:t>
            </a: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gógico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489580" y="914400"/>
            <a:ext cx="9308840" cy="1028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 spc="-240">
                <a:solidFill>
                  <a:srgbClr val="00263B"/>
                </a:solidFill>
                <a:latin typeface="Cerebri Bold"/>
                <a:ea typeface="Cerebri Bold"/>
                <a:cs typeface="Cerebri Bold"/>
                <a:sym typeface="Cerebri Bold"/>
              </a:rPr>
              <a:t>Objetivo do Sistema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402269" y="8325897"/>
            <a:ext cx="1179006" cy="1179006"/>
          </a:xfrm>
          <a:custGeom>
            <a:avLst/>
            <a:gdLst/>
            <a:ahLst/>
            <a:cxnLst/>
            <a:rect r="r" b="b" t="t" l="l"/>
            <a:pathLst>
              <a:path h="1179006" w="1179006">
                <a:moveTo>
                  <a:pt x="0" y="0"/>
                </a:moveTo>
                <a:lnTo>
                  <a:pt x="1179006" y="0"/>
                </a:lnTo>
                <a:lnTo>
                  <a:pt x="1179006" y="1179006"/>
                </a:lnTo>
                <a:lnTo>
                  <a:pt x="0" y="11790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79614" y="8528450"/>
            <a:ext cx="565449" cy="744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40"/>
              </a:lnSpc>
            </a:pPr>
            <a:r>
              <a:rPr lang="en-US" b="true" sz="3886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79302" y="2816132"/>
            <a:ext cx="14725369" cy="4272244"/>
            <a:chOff x="0" y="0"/>
            <a:chExt cx="3878287" cy="11252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78287" cy="1125200"/>
            </a:xfrm>
            <a:custGeom>
              <a:avLst/>
              <a:gdLst/>
              <a:ahLst/>
              <a:cxnLst/>
              <a:rect r="r" b="b" t="t" l="l"/>
              <a:pathLst>
                <a:path h="1125200" w="3878287">
                  <a:moveTo>
                    <a:pt x="0" y="0"/>
                  </a:moveTo>
                  <a:lnTo>
                    <a:pt x="3878287" y="0"/>
                  </a:lnTo>
                  <a:lnTo>
                    <a:pt x="3878287" y="1125200"/>
                  </a:lnTo>
                  <a:lnTo>
                    <a:pt x="0" y="1125200"/>
                  </a:lnTo>
                  <a:close/>
                </a:path>
              </a:pathLst>
            </a:custGeom>
            <a:ln w="57150" cap="sq">
              <a:solidFill>
                <a:srgbClr val="00263B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3878287" cy="1182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619652" y="8668797"/>
            <a:ext cx="1179006" cy="1179006"/>
          </a:xfrm>
          <a:custGeom>
            <a:avLst/>
            <a:gdLst/>
            <a:ahLst/>
            <a:cxnLst/>
            <a:rect r="r" b="b" t="t" l="l"/>
            <a:pathLst>
              <a:path h="1179006" w="1179006">
                <a:moveTo>
                  <a:pt x="0" y="0"/>
                </a:moveTo>
                <a:lnTo>
                  <a:pt x="1179006" y="0"/>
                </a:lnTo>
                <a:lnTo>
                  <a:pt x="1179006" y="1179006"/>
                </a:lnTo>
                <a:lnTo>
                  <a:pt x="0" y="11790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98658" y="3225144"/>
            <a:ext cx="14506013" cy="3204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979" indent="-367490" lvl="1">
              <a:lnSpc>
                <a:spcPts val="5106"/>
              </a:lnSpc>
              <a:buFont typeface="Arial"/>
              <a:buChar char="•"/>
            </a:pP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Linguagem de programação: Python</a:t>
            </a:r>
          </a:p>
          <a:p>
            <a:pPr algn="l" marL="734979" indent="-367490" lvl="1">
              <a:lnSpc>
                <a:spcPts val="5106"/>
              </a:lnSpc>
              <a:buFont typeface="Arial"/>
              <a:buChar char="•"/>
            </a:pP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Framework: Django (arquitetura </a:t>
            </a:r>
            <a:r>
              <a:rPr lang="en-US" sz="3404" i="true" spc="-102">
                <a:solidFill>
                  <a:srgbClr val="000000"/>
                </a:solidFill>
                <a:latin typeface="Cerebri Italics"/>
                <a:ea typeface="Cerebri Italics"/>
                <a:cs typeface="Cerebri Italics"/>
                <a:sym typeface="Cerebri Italics"/>
              </a:rPr>
              <a:t>Model</a:t>
            </a: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, </a:t>
            </a:r>
            <a:r>
              <a:rPr lang="en-US" sz="3404" i="true" spc="-102">
                <a:solidFill>
                  <a:srgbClr val="000000"/>
                </a:solidFill>
                <a:latin typeface="Cerebri Italics"/>
                <a:ea typeface="Cerebri Italics"/>
                <a:cs typeface="Cerebri Italics"/>
                <a:sym typeface="Cerebri Italics"/>
              </a:rPr>
              <a:t>View</a:t>
            </a: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, </a:t>
            </a:r>
            <a:r>
              <a:rPr lang="en-US" sz="3404" i="true" spc="-102">
                <a:solidFill>
                  <a:srgbClr val="000000"/>
                </a:solidFill>
                <a:latin typeface="Cerebri Italics"/>
                <a:ea typeface="Cerebri Italics"/>
                <a:cs typeface="Cerebri Italics"/>
                <a:sym typeface="Cerebri Italics"/>
              </a:rPr>
              <a:t>Template</a:t>
            </a: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 (MVT))</a:t>
            </a:r>
          </a:p>
          <a:p>
            <a:pPr algn="l" marL="734979" indent="-367490" lvl="1">
              <a:lnSpc>
                <a:spcPts val="5106"/>
              </a:lnSpc>
              <a:buFont typeface="Arial"/>
              <a:buChar char="•"/>
            </a:pP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Base de dados: SQLite</a:t>
            </a:r>
          </a:p>
          <a:p>
            <a:pPr algn="l" marL="734979" indent="-367490" lvl="1">
              <a:lnSpc>
                <a:spcPts val="5106"/>
              </a:lnSpc>
              <a:buFont typeface="Arial"/>
              <a:buChar char="•"/>
            </a:pP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Interface: Django Adm</a:t>
            </a: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in</a:t>
            </a:r>
          </a:p>
          <a:p>
            <a:pPr algn="l" marL="734979" indent="-367490" lvl="1">
              <a:lnSpc>
                <a:spcPts val="5106"/>
              </a:lnSpc>
              <a:buFont typeface="Arial"/>
              <a:buChar char="•"/>
            </a:pP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De</a:t>
            </a: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s</a:t>
            </a: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env</a:t>
            </a: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o</a:t>
            </a: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lvime</a:t>
            </a: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n</a:t>
            </a: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to via linha de comando</a:t>
            </a: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489580" y="1381125"/>
            <a:ext cx="9308840" cy="1028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 spc="-240">
                <a:solidFill>
                  <a:srgbClr val="00263B"/>
                </a:solidFill>
                <a:latin typeface="Cerebri Bold"/>
                <a:ea typeface="Cerebri Bold"/>
                <a:cs typeface="Cerebri Bold"/>
                <a:sym typeface="Cerebri Bold"/>
              </a:rPr>
              <a:t>Tecnologias Utilizadas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6997" y="8871350"/>
            <a:ext cx="565449" cy="744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40"/>
              </a:lnSpc>
            </a:pPr>
            <a:r>
              <a:rPr lang="en-US" b="true" sz="3886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79302" y="2816132"/>
            <a:ext cx="14725369" cy="4272244"/>
            <a:chOff x="0" y="0"/>
            <a:chExt cx="3878287" cy="11252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78287" cy="1125200"/>
            </a:xfrm>
            <a:custGeom>
              <a:avLst/>
              <a:gdLst/>
              <a:ahLst/>
              <a:cxnLst/>
              <a:rect r="r" b="b" t="t" l="l"/>
              <a:pathLst>
                <a:path h="1125200" w="3878287">
                  <a:moveTo>
                    <a:pt x="0" y="0"/>
                  </a:moveTo>
                  <a:lnTo>
                    <a:pt x="3878287" y="0"/>
                  </a:lnTo>
                  <a:lnTo>
                    <a:pt x="3878287" y="1125200"/>
                  </a:lnTo>
                  <a:lnTo>
                    <a:pt x="0" y="1125200"/>
                  </a:lnTo>
                  <a:close/>
                </a:path>
              </a:pathLst>
            </a:custGeom>
            <a:ln w="57150" cap="sq">
              <a:solidFill>
                <a:srgbClr val="00263B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3878287" cy="1182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619652" y="8668797"/>
            <a:ext cx="1179006" cy="1179006"/>
          </a:xfrm>
          <a:custGeom>
            <a:avLst/>
            <a:gdLst/>
            <a:ahLst/>
            <a:cxnLst/>
            <a:rect r="r" b="b" t="t" l="l"/>
            <a:pathLst>
              <a:path h="1179006" w="1179006">
                <a:moveTo>
                  <a:pt x="0" y="0"/>
                </a:moveTo>
                <a:lnTo>
                  <a:pt x="1179006" y="0"/>
                </a:lnTo>
                <a:lnTo>
                  <a:pt x="1179006" y="1179006"/>
                </a:lnTo>
                <a:lnTo>
                  <a:pt x="0" y="11790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98658" y="3215619"/>
            <a:ext cx="13285927" cy="3204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979" indent="-367490" lvl="1">
              <a:lnSpc>
                <a:spcPts val="5106"/>
              </a:lnSpc>
              <a:buFont typeface="Arial"/>
              <a:buChar char="•"/>
            </a:pP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Separação clara de responsabilidades</a:t>
            </a:r>
          </a:p>
          <a:p>
            <a:pPr algn="l" marL="734979" indent="-367490" lvl="1">
              <a:lnSpc>
                <a:spcPts val="5106"/>
              </a:lnSpc>
              <a:buFont typeface="Arial"/>
              <a:buChar char="•"/>
            </a:pP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Modelação do domí</a:t>
            </a: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nio</a:t>
            </a:r>
          </a:p>
          <a:p>
            <a:pPr algn="l" marL="734979" indent="-367490" lvl="1">
              <a:lnSpc>
                <a:spcPts val="5106"/>
              </a:lnSpc>
              <a:buFont typeface="Arial"/>
              <a:buChar char="•"/>
            </a:pP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Regras</a:t>
            </a: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 de negócio centralizadas</a:t>
            </a:r>
          </a:p>
          <a:p>
            <a:pPr algn="l" marL="734979" indent="-367490" lvl="1">
              <a:lnSpc>
                <a:spcPts val="5106"/>
              </a:lnSpc>
              <a:buFont typeface="Arial"/>
              <a:buChar char="•"/>
            </a:pP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Persistência de dados</a:t>
            </a:r>
          </a:p>
          <a:p>
            <a:pPr algn="l" marL="734979" indent="-367490" lvl="1">
              <a:lnSpc>
                <a:spcPts val="5106"/>
              </a:lnSpc>
              <a:buFont typeface="Arial"/>
              <a:buChar char="•"/>
            </a:pP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Segurança e</a:t>
            </a: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 a</a:t>
            </a: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utentic</a:t>
            </a: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a</a:t>
            </a: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ção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489580" y="1276350"/>
            <a:ext cx="9308840" cy="1028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 spc="-240">
                <a:solidFill>
                  <a:srgbClr val="00263B"/>
                </a:solidFill>
                <a:latin typeface="Cerebri Bold"/>
                <a:ea typeface="Cerebri Bold"/>
                <a:cs typeface="Cerebri Bold"/>
                <a:sym typeface="Cerebri Bold"/>
              </a:rPr>
              <a:t>Por que Django?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6997" y="8871350"/>
            <a:ext cx="565449" cy="744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40"/>
              </a:lnSpc>
            </a:pPr>
            <a:r>
              <a:rPr lang="en-US" b="true" sz="3886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79302" y="2816132"/>
            <a:ext cx="14725369" cy="4272244"/>
            <a:chOff x="0" y="0"/>
            <a:chExt cx="3878287" cy="11252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78287" cy="1125200"/>
            </a:xfrm>
            <a:custGeom>
              <a:avLst/>
              <a:gdLst/>
              <a:ahLst/>
              <a:cxnLst/>
              <a:rect r="r" b="b" t="t" l="l"/>
              <a:pathLst>
                <a:path h="1125200" w="3878287">
                  <a:moveTo>
                    <a:pt x="0" y="0"/>
                  </a:moveTo>
                  <a:lnTo>
                    <a:pt x="3878287" y="0"/>
                  </a:lnTo>
                  <a:lnTo>
                    <a:pt x="3878287" y="1125200"/>
                  </a:lnTo>
                  <a:lnTo>
                    <a:pt x="0" y="1125200"/>
                  </a:lnTo>
                  <a:close/>
                </a:path>
              </a:pathLst>
            </a:custGeom>
            <a:ln w="57150" cap="sq">
              <a:solidFill>
                <a:srgbClr val="00263B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3878287" cy="1182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619652" y="8668797"/>
            <a:ext cx="1179006" cy="1179006"/>
          </a:xfrm>
          <a:custGeom>
            <a:avLst/>
            <a:gdLst/>
            <a:ahLst/>
            <a:cxnLst/>
            <a:rect r="r" b="b" t="t" l="l"/>
            <a:pathLst>
              <a:path h="1179006" w="1179006">
                <a:moveTo>
                  <a:pt x="0" y="0"/>
                </a:moveTo>
                <a:lnTo>
                  <a:pt x="1179006" y="0"/>
                </a:lnTo>
                <a:lnTo>
                  <a:pt x="1179006" y="1179006"/>
                </a:lnTo>
                <a:lnTo>
                  <a:pt x="0" y="11790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89133" y="3276533"/>
            <a:ext cx="13285927" cy="2556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979" indent="-367490" lvl="1">
              <a:lnSpc>
                <a:spcPts val="5106"/>
              </a:lnSpc>
              <a:buFont typeface="Arial"/>
              <a:buChar char="•"/>
            </a:pP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Núcleo (entidades base)</a:t>
            </a:r>
          </a:p>
          <a:p>
            <a:pPr algn="l" marL="734979" indent="-367490" lvl="1">
              <a:lnSpc>
                <a:spcPts val="5106"/>
              </a:lnSpc>
              <a:buFont typeface="Arial"/>
              <a:buChar char="•"/>
            </a:pP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Módulo TIC (e</a:t>
            </a: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nsino básico</a:t>
            </a: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 e secundário)</a:t>
            </a:r>
          </a:p>
          <a:p>
            <a:pPr algn="l" marL="734979" indent="-367490" lvl="1">
              <a:lnSpc>
                <a:spcPts val="5106"/>
              </a:lnSpc>
              <a:buFont typeface="Arial"/>
              <a:buChar char="•"/>
            </a:pP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Módulo Profissional (UFCDs)</a:t>
            </a:r>
          </a:p>
          <a:p>
            <a:pPr algn="l" marL="734979" indent="-367490" lvl="1">
              <a:lnSpc>
                <a:spcPts val="5106"/>
              </a:lnSpc>
              <a:buFont typeface="Arial"/>
              <a:buChar char="•"/>
            </a:pP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Serviços de</a:t>
            </a: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 cál</a:t>
            </a: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culo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867576" y="1276350"/>
            <a:ext cx="9930844" cy="1028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 spc="-240">
                <a:solidFill>
                  <a:srgbClr val="00263B"/>
                </a:solidFill>
                <a:latin typeface="Cerebri Bold"/>
                <a:ea typeface="Cerebri Bold"/>
                <a:cs typeface="Cerebri Bold"/>
                <a:sym typeface="Cerebri Bold"/>
              </a:rPr>
              <a:t>Arquitetura Geral do Sistema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6997" y="8871350"/>
            <a:ext cx="565449" cy="744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40"/>
              </a:lnSpc>
            </a:pPr>
            <a:r>
              <a:rPr lang="en-US" b="true" sz="3886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79302" y="2816132"/>
            <a:ext cx="14725369" cy="4272244"/>
            <a:chOff x="0" y="0"/>
            <a:chExt cx="3878287" cy="11252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78287" cy="1125200"/>
            </a:xfrm>
            <a:custGeom>
              <a:avLst/>
              <a:gdLst/>
              <a:ahLst/>
              <a:cxnLst/>
              <a:rect r="r" b="b" t="t" l="l"/>
              <a:pathLst>
                <a:path h="1125200" w="3878287">
                  <a:moveTo>
                    <a:pt x="0" y="0"/>
                  </a:moveTo>
                  <a:lnTo>
                    <a:pt x="3878287" y="0"/>
                  </a:lnTo>
                  <a:lnTo>
                    <a:pt x="3878287" y="1125200"/>
                  </a:lnTo>
                  <a:lnTo>
                    <a:pt x="0" y="1125200"/>
                  </a:lnTo>
                  <a:close/>
                </a:path>
              </a:pathLst>
            </a:custGeom>
            <a:ln w="57150" cap="sq">
              <a:solidFill>
                <a:srgbClr val="00263B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3878287" cy="1182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619652" y="8668797"/>
            <a:ext cx="1179006" cy="1179006"/>
          </a:xfrm>
          <a:custGeom>
            <a:avLst/>
            <a:gdLst/>
            <a:ahLst/>
            <a:cxnLst/>
            <a:rect r="r" b="b" t="t" l="l"/>
            <a:pathLst>
              <a:path h="1179006" w="1179006">
                <a:moveTo>
                  <a:pt x="0" y="0"/>
                </a:moveTo>
                <a:lnTo>
                  <a:pt x="1179006" y="0"/>
                </a:lnTo>
                <a:lnTo>
                  <a:pt x="1179006" y="1179006"/>
                </a:lnTo>
                <a:lnTo>
                  <a:pt x="0" y="11790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98658" y="3339444"/>
            <a:ext cx="13285927" cy="2556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979" indent="-367490" lvl="1">
              <a:lnSpc>
                <a:spcPts val="5106"/>
              </a:lnSpc>
              <a:buFont typeface="Arial"/>
              <a:buChar char="•"/>
            </a:pP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Ano letivo</a:t>
            </a:r>
          </a:p>
          <a:p>
            <a:pPr algn="l" marL="734979" indent="-367490" lvl="1">
              <a:lnSpc>
                <a:spcPts val="5106"/>
              </a:lnSpc>
              <a:buFont typeface="Arial"/>
              <a:buChar char="•"/>
            </a:pP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Turmas</a:t>
            </a:r>
          </a:p>
          <a:p>
            <a:pPr algn="l" marL="734979" indent="-367490" lvl="1">
              <a:lnSpc>
                <a:spcPts val="5106"/>
              </a:lnSpc>
              <a:buFont typeface="Arial"/>
              <a:buChar char="•"/>
            </a:pP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Alu</a:t>
            </a: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nos</a:t>
            </a:r>
          </a:p>
          <a:p>
            <a:pPr algn="l" marL="734979" indent="-367490" lvl="1">
              <a:lnSpc>
                <a:spcPts val="5106"/>
              </a:lnSpc>
              <a:buFont typeface="Arial"/>
              <a:buChar char="•"/>
            </a:pP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Regras</a:t>
            </a: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 de integridade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489580" y="1276350"/>
            <a:ext cx="9308840" cy="1028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 spc="-240">
                <a:solidFill>
                  <a:srgbClr val="00263B"/>
                </a:solidFill>
                <a:latin typeface="Cerebri Bold"/>
                <a:ea typeface="Cerebri Bold"/>
                <a:cs typeface="Cerebri Bold"/>
                <a:sym typeface="Cerebri Bold"/>
              </a:rPr>
              <a:t>Módulo Núcleo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6997" y="8871350"/>
            <a:ext cx="565449" cy="744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40"/>
              </a:lnSpc>
            </a:pPr>
            <a:r>
              <a:rPr lang="en-US" b="true" sz="3886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79302" y="2816132"/>
            <a:ext cx="14725369" cy="4272244"/>
            <a:chOff x="0" y="0"/>
            <a:chExt cx="3878287" cy="11252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78287" cy="1125200"/>
            </a:xfrm>
            <a:custGeom>
              <a:avLst/>
              <a:gdLst/>
              <a:ahLst/>
              <a:cxnLst/>
              <a:rect r="r" b="b" t="t" l="l"/>
              <a:pathLst>
                <a:path h="1125200" w="3878287">
                  <a:moveTo>
                    <a:pt x="0" y="0"/>
                  </a:moveTo>
                  <a:lnTo>
                    <a:pt x="3878287" y="0"/>
                  </a:lnTo>
                  <a:lnTo>
                    <a:pt x="3878287" y="1125200"/>
                  </a:lnTo>
                  <a:lnTo>
                    <a:pt x="0" y="1125200"/>
                  </a:lnTo>
                  <a:close/>
                </a:path>
              </a:pathLst>
            </a:custGeom>
            <a:ln w="57150" cap="sq">
              <a:solidFill>
                <a:srgbClr val="00263B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3878287" cy="1182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619652" y="8668797"/>
            <a:ext cx="1179006" cy="1179006"/>
          </a:xfrm>
          <a:custGeom>
            <a:avLst/>
            <a:gdLst/>
            <a:ahLst/>
            <a:cxnLst/>
            <a:rect r="r" b="b" t="t" l="l"/>
            <a:pathLst>
              <a:path h="1179006" w="1179006">
                <a:moveTo>
                  <a:pt x="0" y="0"/>
                </a:moveTo>
                <a:lnTo>
                  <a:pt x="1179006" y="0"/>
                </a:lnTo>
                <a:lnTo>
                  <a:pt x="1179006" y="1179006"/>
                </a:lnTo>
                <a:lnTo>
                  <a:pt x="0" y="11790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98658" y="3425169"/>
            <a:ext cx="13285927" cy="2556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979" indent="-367490" lvl="1">
              <a:lnSpc>
                <a:spcPts val="5106"/>
              </a:lnSpc>
              <a:buFont typeface="Arial"/>
              <a:buChar char="•"/>
            </a:pP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Avaliações por período (P1, P2, P3)</a:t>
            </a:r>
          </a:p>
          <a:p>
            <a:pPr algn="l" marL="734979" indent="-367490" lvl="1">
              <a:lnSpc>
                <a:spcPts val="5106"/>
              </a:lnSpc>
              <a:buFont typeface="Arial"/>
              <a:buChar char="•"/>
            </a:pP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Domí</a:t>
            </a: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nio</a:t>
            </a: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 cognitivo (0–80)</a:t>
            </a:r>
          </a:p>
          <a:p>
            <a:pPr algn="l" marL="734979" indent="-367490" lvl="1">
              <a:lnSpc>
                <a:spcPts val="5106"/>
              </a:lnSpc>
              <a:buFont typeface="Arial"/>
              <a:buChar char="•"/>
            </a:pP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Atitudes e valores</a:t>
            </a: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 (0–20)</a:t>
            </a:r>
          </a:p>
          <a:p>
            <a:pPr algn="l" marL="734979" indent="-367490" lvl="1">
              <a:lnSpc>
                <a:spcPts val="5106"/>
              </a:lnSpc>
              <a:buFont typeface="Arial"/>
              <a:buChar char="•"/>
            </a:pP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No</a:t>
            </a: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ta fin</a:t>
            </a: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al (0–100)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79302" y="1276350"/>
            <a:ext cx="14725369" cy="1028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 spc="-240">
                <a:solidFill>
                  <a:srgbClr val="00263B"/>
                </a:solidFill>
                <a:latin typeface="Cerebri Bold"/>
                <a:ea typeface="Cerebri Bold"/>
                <a:cs typeface="Cerebri Bold"/>
                <a:sym typeface="Cerebri Bold"/>
              </a:rPr>
              <a:t>Módulo TIC (Ensino Básico e Secundário)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6997" y="8871350"/>
            <a:ext cx="565449" cy="744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40"/>
              </a:lnSpc>
            </a:pPr>
            <a:r>
              <a:rPr lang="en-US" b="true" sz="3886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79302" y="2816132"/>
            <a:ext cx="14725369" cy="4272244"/>
            <a:chOff x="0" y="0"/>
            <a:chExt cx="3878287" cy="11252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78287" cy="1125200"/>
            </a:xfrm>
            <a:custGeom>
              <a:avLst/>
              <a:gdLst/>
              <a:ahLst/>
              <a:cxnLst/>
              <a:rect r="r" b="b" t="t" l="l"/>
              <a:pathLst>
                <a:path h="1125200" w="3878287">
                  <a:moveTo>
                    <a:pt x="0" y="0"/>
                  </a:moveTo>
                  <a:lnTo>
                    <a:pt x="3878287" y="0"/>
                  </a:lnTo>
                  <a:lnTo>
                    <a:pt x="3878287" y="1125200"/>
                  </a:lnTo>
                  <a:lnTo>
                    <a:pt x="0" y="1125200"/>
                  </a:lnTo>
                  <a:close/>
                </a:path>
              </a:pathLst>
            </a:custGeom>
            <a:ln w="57150" cap="sq">
              <a:solidFill>
                <a:srgbClr val="00263B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3878287" cy="1182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619652" y="8668797"/>
            <a:ext cx="1179006" cy="1179006"/>
          </a:xfrm>
          <a:custGeom>
            <a:avLst/>
            <a:gdLst/>
            <a:ahLst/>
            <a:cxnLst/>
            <a:rect r="r" b="b" t="t" l="l"/>
            <a:pathLst>
              <a:path h="1179006" w="1179006">
                <a:moveTo>
                  <a:pt x="0" y="0"/>
                </a:moveTo>
                <a:lnTo>
                  <a:pt x="1179006" y="0"/>
                </a:lnTo>
                <a:lnTo>
                  <a:pt x="1179006" y="1179006"/>
                </a:lnTo>
                <a:lnTo>
                  <a:pt x="0" y="11790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98658" y="3377544"/>
            <a:ext cx="13285927" cy="2556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979" indent="-367490" lvl="1">
              <a:lnSpc>
                <a:spcPts val="5106"/>
              </a:lnSpc>
              <a:buFont typeface="Arial"/>
              <a:buChar char="•"/>
            </a:pP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Média ponderada das avaliações</a:t>
            </a:r>
          </a:p>
          <a:p>
            <a:pPr algn="l" marL="734979" indent="-367490" lvl="1">
              <a:lnSpc>
                <a:spcPts val="5106"/>
              </a:lnSpc>
              <a:buFont typeface="Arial"/>
              <a:buChar char="•"/>
            </a:pP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Conversão automát</a:t>
            </a: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ica para</a:t>
            </a: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 menção qualitativa</a:t>
            </a:r>
          </a:p>
          <a:p>
            <a:pPr algn="l" marL="734979" indent="-367490" lvl="1">
              <a:lnSpc>
                <a:spcPts val="5106"/>
              </a:lnSpc>
              <a:buFont typeface="Arial"/>
              <a:buChar char="•"/>
            </a:pP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Conversão para nível (1 a 5)</a:t>
            </a:r>
          </a:p>
          <a:p>
            <a:pPr algn="l" marL="734979" indent="-367490" lvl="1">
              <a:lnSpc>
                <a:spcPts val="5106"/>
              </a:lnSpc>
              <a:buFont typeface="Arial"/>
              <a:buChar char="•"/>
            </a:pP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Regras equiv</a:t>
            </a: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alen</a:t>
            </a: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tes às planilh</a:t>
            </a: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as reais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489580" y="1276350"/>
            <a:ext cx="9308840" cy="1028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 spc="-240">
                <a:solidFill>
                  <a:srgbClr val="00263B"/>
                </a:solidFill>
                <a:latin typeface="Cerebri Bold"/>
                <a:ea typeface="Cerebri Bold"/>
                <a:cs typeface="Cerebri Bold"/>
                <a:sym typeface="Cerebri Bold"/>
              </a:rPr>
              <a:t>Regras de Cálculo (TIC)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6997" y="8871350"/>
            <a:ext cx="565449" cy="744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40"/>
              </a:lnSpc>
            </a:pPr>
            <a:r>
              <a:rPr lang="en-US" b="true" sz="3886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79302" y="2816132"/>
            <a:ext cx="14725369" cy="4272244"/>
            <a:chOff x="0" y="0"/>
            <a:chExt cx="3878287" cy="11252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78287" cy="1125200"/>
            </a:xfrm>
            <a:custGeom>
              <a:avLst/>
              <a:gdLst/>
              <a:ahLst/>
              <a:cxnLst/>
              <a:rect r="r" b="b" t="t" l="l"/>
              <a:pathLst>
                <a:path h="1125200" w="3878287">
                  <a:moveTo>
                    <a:pt x="0" y="0"/>
                  </a:moveTo>
                  <a:lnTo>
                    <a:pt x="3878287" y="0"/>
                  </a:lnTo>
                  <a:lnTo>
                    <a:pt x="3878287" y="1125200"/>
                  </a:lnTo>
                  <a:lnTo>
                    <a:pt x="0" y="1125200"/>
                  </a:lnTo>
                  <a:close/>
                </a:path>
              </a:pathLst>
            </a:custGeom>
            <a:ln w="57150" cap="sq">
              <a:solidFill>
                <a:srgbClr val="00263B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3878287" cy="1182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619652" y="8668797"/>
            <a:ext cx="1179006" cy="1179006"/>
          </a:xfrm>
          <a:custGeom>
            <a:avLst/>
            <a:gdLst/>
            <a:ahLst/>
            <a:cxnLst/>
            <a:rect r="r" b="b" t="t" l="l"/>
            <a:pathLst>
              <a:path h="1179006" w="1179006">
                <a:moveTo>
                  <a:pt x="0" y="0"/>
                </a:moveTo>
                <a:lnTo>
                  <a:pt x="1179006" y="0"/>
                </a:lnTo>
                <a:lnTo>
                  <a:pt x="1179006" y="1179006"/>
                </a:lnTo>
                <a:lnTo>
                  <a:pt x="0" y="11790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98658" y="3387069"/>
            <a:ext cx="13285927" cy="2556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979" indent="-367490" lvl="1">
              <a:lnSpc>
                <a:spcPts val="5106"/>
              </a:lnSpc>
              <a:buFont typeface="Arial"/>
              <a:buChar char="•"/>
            </a:pP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Recalculo automát</a:t>
            </a: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ico</a:t>
            </a:r>
          </a:p>
          <a:p>
            <a:pPr algn="l" marL="734979" indent="-367490" lvl="1">
              <a:lnSpc>
                <a:spcPts val="5106"/>
              </a:lnSpc>
              <a:buFont typeface="Arial"/>
              <a:buChar char="•"/>
            </a:pP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Uso</a:t>
            </a: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 de serviços</a:t>
            </a:r>
          </a:p>
          <a:p>
            <a:pPr algn="l" marL="734979" indent="-367490" lvl="1">
              <a:lnSpc>
                <a:spcPts val="5106"/>
              </a:lnSpc>
              <a:buFont typeface="Arial"/>
              <a:buChar char="•"/>
            </a:pP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Uso de signals do Django</a:t>
            </a:r>
          </a:p>
          <a:p>
            <a:pPr algn="l" marL="734979" indent="-367490" lvl="1">
              <a:lnSpc>
                <a:spcPts val="5106"/>
              </a:lnSpc>
              <a:buFont typeface="Arial"/>
              <a:buChar char="•"/>
            </a:pP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Sem comandos</a:t>
            </a: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 man</a:t>
            </a: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uais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489580" y="1276350"/>
            <a:ext cx="9308840" cy="1028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 spc="-240">
                <a:solidFill>
                  <a:srgbClr val="00263B"/>
                </a:solidFill>
                <a:latin typeface="Cerebri Bold"/>
                <a:ea typeface="Cerebri Bold"/>
                <a:cs typeface="Cerebri Bold"/>
                <a:sym typeface="Cerebri Bold"/>
              </a:rPr>
              <a:t>Automação dos Cálculos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6997" y="8871350"/>
            <a:ext cx="565449" cy="744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40"/>
              </a:lnSpc>
            </a:pPr>
            <a:r>
              <a:rPr lang="en-US" b="true" sz="3886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79302" y="2816132"/>
            <a:ext cx="14725369" cy="4272244"/>
            <a:chOff x="0" y="0"/>
            <a:chExt cx="3878287" cy="11252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78287" cy="1125200"/>
            </a:xfrm>
            <a:custGeom>
              <a:avLst/>
              <a:gdLst/>
              <a:ahLst/>
              <a:cxnLst/>
              <a:rect r="r" b="b" t="t" l="l"/>
              <a:pathLst>
                <a:path h="1125200" w="3878287">
                  <a:moveTo>
                    <a:pt x="0" y="0"/>
                  </a:moveTo>
                  <a:lnTo>
                    <a:pt x="3878287" y="0"/>
                  </a:lnTo>
                  <a:lnTo>
                    <a:pt x="3878287" y="1125200"/>
                  </a:lnTo>
                  <a:lnTo>
                    <a:pt x="0" y="1125200"/>
                  </a:lnTo>
                  <a:close/>
                </a:path>
              </a:pathLst>
            </a:custGeom>
            <a:ln w="57150" cap="sq">
              <a:solidFill>
                <a:srgbClr val="00263B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3878287" cy="1182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619652" y="8668797"/>
            <a:ext cx="1179006" cy="1179006"/>
          </a:xfrm>
          <a:custGeom>
            <a:avLst/>
            <a:gdLst/>
            <a:ahLst/>
            <a:cxnLst/>
            <a:rect r="r" b="b" t="t" l="l"/>
            <a:pathLst>
              <a:path h="1179006" w="1179006">
                <a:moveTo>
                  <a:pt x="0" y="0"/>
                </a:moveTo>
                <a:lnTo>
                  <a:pt x="1179006" y="0"/>
                </a:lnTo>
                <a:lnTo>
                  <a:pt x="1179006" y="1179006"/>
                </a:lnTo>
                <a:lnTo>
                  <a:pt x="0" y="11790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98658" y="3396594"/>
            <a:ext cx="13285927" cy="2556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979" indent="-367490" lvl="1">
              <a:lnSpc>
                <a:spcPts val="5106"/>
              </a:lnSpc>
              <a:buFont typeface="Arial"/>
              <a:buChar char="•"/>
            </a:pP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Gestão de Unidades de Formação de Curta Duração (UFCDs)</a:t>
            </a:r>
          </a:p>
          <a:p>
            <a:pPr algn="l" marL="734979" indent="-367490" lvl="1">
              <a:lnSpc>
                <a:spcPts val="5106"/>
              </a:lnSpc>
              <a:buFont typeface="Arial"/>
              <a:buChar char="•"/>
            </a:pP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Carga horár</a:t>
            </a: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ia</a:t>
            </a: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 variável</a:t>
            </a:r>
          </a:p>
          <a:p>
            <a:pPr algn="l" marL="734979" indent="-367490" lvl="1">
              <a:lnSpc>
                <a:spcPts val="5106"/>
              </a:lnSpc>
              <a:buFont typeface="Arial"/>
              <a:buChar char="•"/>
            </a:pP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Avaliações flexíveis</a:t>
            </a:r>
          </a:p>
          <a:p>
            <a:pPr algn="l" marL="734979" indent="-367490" lvl="1">
              <a:lnSpc>
                <a:spcPts val="5106"/>
              </a:lnSpc>
              <a:buFont typeface="Arial"/>
              <a:buChar char="•"/>
            </a:pP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Autoavali</a:t>
            </a: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a</a:t>
            </a: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ção por UFCD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580496" y="1276350"/>
            <a:ext cx="10217923" cy="1028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 spc="-240">
                <a:solidFill>
                  <a:srgbClr val="00263B"/>
                </a:solidFill>
                <a:latin typeface="Cerebri Bold"/>
                <a:ea typeface="Cerebri Bold"/>
                <a:cs typeface="Cerebri Bold"/>
                <a:sym typeface="Cerebri Bold"/>
              </a:rPr>
              <a:t>Módulo Profissional (UFCDs)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6997" y="8871350"/>
            <a:ext cx="565449" cy="744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40"/>
              </a:lnSpc>
            </a:pPr>
            <a:r>
              <a:rPr lang="en-US" b="true" sz="3886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79302" y="2816132"/>
            <a:ext cx="14725369" cy="4272244"/>
            <a:chOff x="0" y="0"/>
            <a:chExt cx="3878287" cy="11252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78287" cy="1125200"/>
            </a:xfrm>
            <a:custGeom>
              <a:avLst/>
              <a:gdLst/>
              <a:ahLst/>
              <a:cxnLst/>
              <a:rect r="r" b="b" t="t" l="l"/>
              <a:pathLst>
                <a:path h="1125200" w="3878287">
                  <a:moveTo>
                    <a:pt x="0" y="0"/>
                  </a:moveTo>
                  <a:lnTo>
                    <a:pt x="3878287" y="0"/>
                  </a:lnTo>
                  <a:lnTo>
                    <a:pt x="3878287" y="1125200"/>
                  </a:lnTo>
                  <a:lnTo>
                    <a:pt x="0" y="1125200"/>
                  </a:lnTo>
                  <a:close/>
                </a:path>
              </a:pathLst>
            </a:custGeom>
            <a:ln w="57150" cap="sq">
              <a:solidFill>
                <a:srgbClr val="00263B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3878287" cy="1182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619652" y="8668797"/>
            <a:ext cx="1179006" cy="1179006"/>
          </a:xfrm>
          <a:custGeom>
            <a:avLst/>
            <a:gdLst/>
            <a:ahLst/>
            <a:cxnLst/>
            <a:rect r="r" b="b" t="t" l="l"/>
            <a:pathLst>
              <a:path h="1179006" w="1179006">
                <a:moveTo>
                  <a:pt x="0" y="0"/>
                </a:moveTo>
                <a:lnTo>
                  <a:pt x="1179006" y="0"/>
                </a:lnTo>
                <a:lnTo>
                  <a:pt x="1179006" y="1179006"/>
                </a:lnTo>
                <a:lnTo>
                  <a:pt x="0" y="11790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98658" y="3377544"/>
            <a:ext cx="13285927" cy="2556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979" indent="-367490" lvl="1">
              <a:lnSpc>
                <a:spcPts val="5106"/>
              </a:lnSpc>
              <a:buFont typeface="Arial"/>
              <a:buChar char="•"/>
            </a:pP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Estrutura base implementada</a:t>
            </a:r>
          </a:p>
          <a:p>
            <a:pPr algn="l" marL="734979" indent="-367490" lvl="1">
              <a:lnSpc>
                <a:spcPts val="5106"/>
              </a:lnSpc>
              <a:buFont typeface="Arial"/>
              <a:buChar char="•"/>
            </a:pP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Núcleo funcional</a:t>
            </a:r>
          </a:p>
          <a:p>
            <a:pPr algn="l" marL="734979" indent="-367490" lvl="1">
              <a:lnSpc>
                <a:spcPts val="5106"/>
              </a:lnSpc>
              <a:buFont typeface="Arial"/>
              <a:buChar char="•"/>
            </a:pP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Módulo TIC </a:t>
            </a: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op</a:t>
            </a: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eracional</a:t>
            </a:r>
          </a:p>
          <a:p>
            <a:pPr algn="l" marL="734979" indent="-367490" lvl="1">
              <a:lnSpc>
                <a:spcPts val="5106"/>
              </a:lnSpc>
              <a:buFont typeface="Arial"/>
              <a:buChar char="•"/>
            </a:pP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Cálculos automáticos implementados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867576" y="1276350"/>
            <a:ext cx="9930844" cy="1028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 spc="-240">
                <a:solidFill>
                  <a:srgbClr val="00263B"/>
                </a:solidFill>
                <a:latin typeface="Cerebri Bold"/>
                <a:ea typeface="Cerebri Bold"/>
                <a:cs typeface="Cerebri Bold"/>
                <a:sym typeface="Cerebri Bold"/>
              </a:rPr>
              <a:t>Estado Atual do Projeto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6997" y="8871350"/>
            <a:ext cx="565449" cy="744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40"/>
              </a:lnSpc>
            </a:pPr>
            <a:r>
              <a:rPr lang="en-US" b="true" sz="3886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79302" y="2816132"/>
            <a:ext cx="14725369" cy="4272244"/>
            <a:chOff x="0" y="0"/>
            <a:chExt cx="3878287" cy="11252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78287" cy="1125200"/>
            </a:xfrm>
            <a:custGeom>
              <a:avLst/>
              <a:gdLst/>
              <a:ahLst/>
              <a:cxnLst/>
              <a:rect r="r" b="b" t="t" l="l"/>
              <a:pathLst>
                <a:path h="1125200" w="3878287">
                  <a:moveTo>
                    <a:pt x="0" y="0"/>
                  </a:moveTo>
                  <a:lnTo>
                    <a:pt x="3878287" y="0"/>
                  </a:lnTo>
                  <a:lnTo>
                    <a:pt x="3878287" y="1125200"/>
                  </a:lnTo>
                  <a:lnTo>
                    <a:pt x="0" y="1125200"/>
                  </a:lnTo>
                  <a:close/>
                </a:path>
              </a:pathLst>
            </a:custGeom>
            <a:ln w="57150" cap="sq">
              <a:solidFill>
                <a:srgbClr val="00263B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3878287" cy="1182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619652" y="8668797"/>
            <a:ext cx="1179006" cy="1179006"/>
          </a:xfrm>
          <a:custGeom>
            <a:avLst/>
            <a:gdLst/>
            <a:ahLst/>
            <a:cxnLst/>
            <a:rect r="r" b="b" t="t" l="l"/>
            <a:pathLst>
              <a:path h="1179006" w="1179006">
                <a:moveTo>
                  <a:pt x="0" y="0"/>
                </a:moveTo>
                <a:lnTo>
                  <a:pt x="1179006" y="0"/>
                </a:lnTo>
                <a:lnTo>
                  <a:pt x="1179006" y="1179006"/>
                </a:lnTo>
                <a:lnTo>
                  <a:pt x="0" y="11790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98658" y="3406119"/>
            <a:ext cx="13285927" cy="2556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979" indent="-367490" lvl="1">
              <a:lnSpc>
                <a:spcPts val="5106"/>
              </a:lnSpc>
              <a:buFont typeface="Arial"/>
              <a:buChar char="•"/>
            </a:pP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Regras diferentes por contexto</a:t>
            </a:r>
          </a:p>
          <a:p>
            <a:pPr algn="l" marL="734979" indent="-367490" lvl="1">
              <a:lnSpc>
                <a:spcPts val="5106"/>
              </a:lnSpc>
              <a:buFont typeface="Arial"/>
              <a:buChar char="•"/>
            </a:pP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Integridade dos dados</a:t>
            </a:r>
          </a:p>
          <a:p>
            <a:pPr algn="l" marL="734979" indent="-367490" lvl="1">
              <a:lnSpc>
                <a:spcPts val="5106"/>
              </a:lnSpc>
              <a:buFont typeface="Arial"/>
              <a:buChar char="•"/>
            </a:pP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Aut</a:t>
            </a: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omatização</a:t>
            </a: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 dos cálculos</a:t>
            </a:r>
          </a:p>
          <a:p>
            <a:pPr algn="l" marL="734979" indent="-367490" lvl="1">
              <a:lnSpc>
                <a:spcPts val="5106"/>
              </a:lnSpc>
              <a:buFont typeface="Arial"/>
              <a:buChar char="•"/>
            </a:pP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Evolução incremental do modelo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489580" y="1276350"/>
            <a:ext cx="9308840" cy="1028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 spc="-240">
                <a:solidFill>
                  <a:srgbClr val="00263B"/>
                </a:solidFill>
                <a:latin typeface="Cerebri Bold"/>
                <a:ea typeface="Cerebri Bold"/>
                <a:cs typeface="Cerebri Bold"/>
                <a:sym typeface="Cerebri Bold"/>
              </a:rPr>
              <a:t>Desafios Encontrados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6997" y="8871350"/>
            <a:ext cx="565449" cy="744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40"/>
              </a:lnSpc>
            </a:pPr>
            <a:r>
              <a:rPr lang="en-US" b="true" sz="3886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566988"/>
            <a:ext cx="16230600" cy="5558119"/>
            <a:chOff x="0" y="0"/>
            <a:chExt cx="4274726" cy="14638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1463867"/>
            </a:xfrm>
            <a:custGeom>
              <a:avLst/>
              <a:gdLst/>
              <a:ahLst/>
              <a:cxnLst/>
              <a:rect r="r" b="b" t="t" l="l"/>
              <a:pathLst>
                <a:path h="14638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1463867"/>
                  </a:lnTo>
                  <a:lnTo>
                    <a:pt x="0" y="1463867"/>
                  </a:lnTo>
                  <a:close/>
                </a:path>
              </a:pathLst>
            </a:custGeom>
            <a:ln w="57150" cap="sq">
              <a:solidFill>
                <a:srgbClr val="00263B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274726" cy="15210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874913" y="3133923"/>
            <a:ext cx="14538174" cy="3914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7" indent="-377824" lvl="1">
              <a:lnSpc>
                <a:spcPts val="5249"/>
              </a:lnSpc>
              <a:buFont typeface="Arial"/>
              <a:buChar char="•"/>
            </a:pPr>
            <a:r>
              <a:rPr lang="en-US" sz="3499" spc="-104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IA utilizada como </a:t>
            </a:r>
            <a:r>
              <a:rPr lang="en-US" b="true" sz="3499" spc="-104">
                <a:solidFill>
                  <a:srgbClr val="000000"/>
                </a:solidFill>
                <a:latin typeface="Cerebri Bold"/>
                <a:ea typeface="Cerebri Bold"/>
                <a:cs typeface="Cerebri Bold"/>
                <a:sym typeface="Cerebri Bold"/>
              </a:rPr>
              <a:t>ferramenta de apoio</a:t>
            </a:r>
          </a:p>
          <a:p>
            <a:pPr algn="l" marL="755647" indent="-377824" lvl="1">
              <a:lnSpc>
                <a:spcPts val="5249"/>
              </a:lnSpc>
              <a:buFont typeface="Arial"/>
              <a:buChar char="•"/>
            </a:pPr>
            <a:r>
              <a:rPr lang="en-US" sz="3499" spc="-104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Auxílio na:</a:t>
            </a:r>
          </a:p>
          <a:p>
            <a:pPr algn="l" marL="755647" indent="-377824" lvl="1">
              <a:lnSpc>
                <a:spcPts val="5249"/>
              </a:lnSpc>
              <a:buFont typeface="Arial"/>
              <a:buChar char="•"/>
            </a:pPr>
            <a:r>
              <a:rPr lang="en-US" sz="3499" spc="-104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estruturação da arquitetura</a:t>
            </a:r>
          </a:p>
          <a:p>
            <a:pPr algn="l" marL="755647" indent="-377824" lvl="1">
              <a:lnSpc>
                <a:spcPts val="5249"/>
              </a:lnSpc>
              <a:buFont typeface="Arial"/>
              <a:buChar char="•"/>
            </a:pPr>
            <a:r>
              <a:rPr lang="en-US" sz="3499" spc="-104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validação de regras de negócio</a:t>
            </a:r>
          </a:p>
          <a:p>
            <a:pPr algn="l" marL="755647" indent="-377824" lvl="1">
              <a:lnSpc>
                <a:spcPts val="5249"/>
              </a:lnSpc>
              <a:buFont typeface="Arial"/>
              <a:buChar char="•"/>
            </a:pPr>
            <a:r>
              <a:rPr lang="en-US" sz="3499" spc="-104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revisão de código</a:t>
            </a:r>
          </a:p>
          <a:p>
            <a:pPr algn="l" marL="755647" indent="-377824" lvl="1">
              <a:lnSpc>
                <a:spcPts val="5249"/>
              </a:lnSpc>
              <a:buFont typeface="Arial"/>
              <a:buChar char="•"/>
            </a:pPr>
            <a:r>
              <a:rPr lang="en-US" sz="3499" spc="-104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Decisões finais e implementação (minha autoria)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74913" y="1142999"/>
            <a:ext cx="14801330" cy="1028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 spc="-240">
                <a:solidFill>
                  <a:srgbClr val="00263B"/>
                </a:solidFill>
                <a:latin typeface="Cerebri Bold"/>
                <a:ea typeface="Cerebri Bold"/>
                <a:cs typeface="Cerebri Bold"/>
                <a:sym typeface="Cerebri Bold"/>
              </a:rPr>
              <a:t>Uso de Inteligência Artificial (IA) no Projeto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19652" y="8668797"/>
            <a:ext cx="1179006" cy="1179006"/>
          </a:xfrm>
          <a:custGeom>
            <a:avLst/>
            <a:gdLst/>
            <a:ahLst/>
            <a:cxnLst/>
            <a:rect r="r" b="b" t="t" l="l"/>
            <a:pathLst>
              <a:path h="1179006" w="1179006">
                <a:moveTo>
                  <a:pt x="0" y="0"/>
                </a:moveTo>
                <a:lnTo>
                  <a:pt x="1179006" y="0"/>
                </a:lnTo>
                <a:lnTo>
                  <a:pt x="1179006" y="1179006"/>
                </a:lnTo>
                <a:lnTo>
                  <a:pt x="0" y="11790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96997" y="8871350"/>
            <a:ext cx="565449" cy="744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40"/>
              </a:lnSpc>
            </a:pPr>
            <a:r>
              <a:rPr lang="en-US" b="true" sz="3886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566988"/>
            <a:ext cx="16230600" cy="5558119"/>
            <a:chOff x="0" y="0"/>
            <a:chExt cx="4274726" cy="14638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1463867"/>
            </a:xfrm>
            <a:custGeom>
              <a:avLst/>
              <a:gdLst/>
              <a:ahLst/>
              <a:cxnLst/>
              <a:rect r="r" b="b" t="t" l="l"/>
              <a:pathLst>
                <a:path h="14638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1463867"/>
                  </a:lnTo>
                  <a:lnTo>
                    <a:pt x="0" y="1463867"/>
                  </a:lnTo>
                  <a:close/>
                </a:path>
              </a:pathLst>
            </a:custGeom>
            <a:ln w="57150" cap="sq">
              <a:solidFill>
                <a:srgbClr val="00263B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274726" cy="15210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874913" y="3312460"/>
            <a:ext cx="14538174" cy="2600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7" indent="-377824" lvl="1">
              <a:lnSpc>
                <a:spcPts val="5249"/>
              </a:lnSpc>
              <a:buFont typeface="Arial"/>
              <a:buChar char="•"/>
            </a:pPr>
            <a:r>
              <a:rPr lang="en-US" sz="3499" spc="-104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Apoio </a:t>
            </a:r>
            <a:r>
              <a:rPr lang="en-US" sz="3499" spc="-104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a</a:t>
            </a:r>
            <a:r>
              <a:rPr lang="en-US" sz="3499" spc="-104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o</a:t>
            </a:r>
            <a:r>
              <a:rPr lang="en-US" sz="3499" spc="-104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 </a:t>
            </a:r>
            <a:r>
              <a:rPr lang="en-US" sz="3499" spc="-104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r</a:t>
            </a:r>
            <a:r>
              <a:rPr lang="en-US" sz="3499" spc="-104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a</a:t>
            </a:r>
            <a:r>
              <a:rPr lang="en-US" sz="3499" spc="-104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c</a:t>
            </a:r>
            <a:r>
              <a:rPr lang="en-US" sz="3499" spc="-104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io</a:t>
            </a:r>
            <a:r>
              <a:rPr lang="en-US" sz="3499" spc="-104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c</a:t>
            </a:r>
            <a:r>
              <a:rPr lang="en-US" sz="3499" spc="-104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ínio técnico</a:t>
            </a:r>
          </a:p>
          <a:p>
            <a:pPr algn="l" marL="755647" indent="-377824" lvl="1">
              <a:lnSpc>
                <a:spcPts val="5249"/>
              </a:lnSpc>
              <a:buFont typeface="Arial"/>
              <a:buChar char="•"/>
            </a:pPr>
            <a:r>
              <a:rPr lang="en-US" sz="3499" spc="-104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Ac</a:t>
            </a:r>
            <a:r>
              <a:rPr lang="en-US" sz="3499" spc="-104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eleração do desenvolvimento</a:t>
            </a:r>
          </a:p>
          <a:p>
            <a:pPr algn="l" marL="755647" indent="-377824" lvl="1">
              <a:lnSpc>
                <a:spcPts val="5249"/>
              </a:lnSpc>
              <a:buFont typeface="Arial"/>
              <a:buChar char="•"/>
            </a:pPr>
            <a:r>
              <a:rPr lang="en-US" sz="3499" spc="-104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Ajuda na identificação de erros</a:t>
            </a:r>
          </a:p>
          <a:p>
            <a:pPr algn="l" marL="755647" indent="-377824" lvl="1">
              <a:lnSpc>
                <a:spcPts val="5249"/>
              </a:lnSpc>
              <a:buFont typeface="Arial"/>
              <a:buChar char="•"/>
            </a:pPr>
            <a:r>
              <a:rPr lang="en-US" sz="3499" spc="-104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Apo</a:t>
            </a:r>
            <a:r>
              <a:rPr lang="en-US" sz="3499" spc="-104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io à documentação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74913" y="1142999"/>
            <a:ext cx="13844400" cy="1028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 spc="-240">
                <a:solidFill>
                  <a:srgbClr val="00263B"/>
                </a:solidFill>
                <a:latin typeface="Cerebri Bold"/>
                <a:ea typeface="Cerebri Bold"/>
                <a:cs typeface="Cerebri Bold"/>
                <a:sym typeface="Cerebri Bold"/>
              </a:rPr>
              <a:t>Vantagens do Uso de IA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19652" y="8668797"/>
            <a:ext cx="1179006" cy="1179006"/>
          </a:xfrm>
          <a:custGeom>
            <a:avLst/>
            <a:gdLst/>
            <a:ahLst/>
            <a:cxnLst/>
            <a:rect r="r" b="b" t="t" l="l"/>
            <a:pathLst>
              <a:path h="1179006" w="1179006">
                <a:moveTo>
                  <a:pt x="0" y="0"/>
                </a:moveTo>
                <a:lnTo>
                  <a:pt x="1179006" y="0"/>
                </a:lnTo>
                <a:lnTo>
                  <a:pt x="1179006" y="1179006"/>
                </a:lnTo>
                <a:lnTo>
                  <a:pt x="0" y="11790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96997" y="8871350"/>
            <a:ext cx="565449" cy="744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40"/>
              </a:lnSpc>
            </a:pPr>
            <a:r>
              <a:rPr lang="en-US" b="true" sz="3886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566988"/>
            <a:ext cx="16230600" cy="5558119"/>
            <a:chOff x="0" y="0"/>
            <a:chExt cx="4274726" cy="14638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1463867"/>
            </a:xfrm>
            <a:custGeom>
              <a:avLst/>
              <a:gdLst/>
              <a:ahLst/>
              <a:cxnLst/>
              <a:rect r="r" b="b" t="t" l="l"/>
              <a:pathLst>
                <a:path h="14638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1463867"/>
                  </a:lnTo>
                  <a:lnTo>
                    <a:pt x="0" y="1463867"/>
                  </a:lnTo>
                  <a:close/>
                </a:path>
              </a:pathLst>
            </a:custGeom>
            <a:ln w="57150" cap="sq">
              <a:solidFill>
                <a:srgbClr val="00263B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274726" cy="15210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874913" y="3331510"/>
            <a:ext cx="14538174" cy="2600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7" indent="-377824" lvl="1">
              <a:lnSpc>
                <a:spcPts val="5249"/>
              </a:lnSpc>
              <a:buFont typeface="Arial"/>
              <a:buChar char="•"/>
            </a:pPr>
            <a:r>
              <a:rPr lang="en-US" sz="3499" spc="-104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Necessidad</a:t>
            </a:r>
            <a:r>
              <a:rPr lang="en-US" sz="3499" spc="-104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e de </a:t>
            </a:r>
            <a:r>
              <a:rPr lang="en-US" sz="3499" spc="-104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v</a:t>
            </a:r>
            <a:r>
              <a:rPr lang="en-US" sz="3499" spc="-104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a</a:t>
            </a:r>
            <a:r>
              <a:rPr lang="en-US" sz="3499" spc="-104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lidação humana</a:t>
            </a:r>
          </a:p>
          <a:p>
            <a:pPr algn="l" marL="755647" indent="-377824" lvl="1">
              <a:lnSpc>
                <a:spcPts val="5249"/>
              </a:lnSpc>
              <a:buFont typeface="Arial"/>
              <a:buChar char="•"/>
            </a:pPr>
            <a:r>
              <a:rPr lang="en-US" sz="3499" spc="-104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Possibilidade de sugestões incorretas</a:t>
            </a:r>
          </a:p>
          <a:p>
            <a:pPr algn="l" marL="755647" indent="-377824" lvl="1">
              <a:lnSpc>
                <a:spcPts val="5249"/>
              </a:lnSpc>
              <a:buFont typeface="Arial"/>
              <a:buChar char="•"/>
            </a:pPr>
            <a:r>
              <a:rPr lang="en-US" sz="3499" spc="-104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Importância da compreensão do código</a:t>
            </a:r>
          </a:p>
          <a:p>
            <a:pPr algn="l" marL="755647" indent="-377824" lvl="1">
              <a:lnSpc>
                <a:spcPts val="5249"/>
              </a:lnSpc>
              <a:buFont typeface="Arial"/>
              <a:buChar char="•"/>
            </a:pPr>
            <a:r>
              <a:rPr lang="en-US" sz="3499" spc="-104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R</a:t>
            </a:r>
            <a:r>
              <a:rPr lang="en-US" sz="3499" spc="-104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esponsabil</a:t>
            </a:r>
            <a:r>
              <a:rPr lang="en-US" sz="3499" spc="-104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i</a:t>
            </a:r>
            <a:r>
              <a:rPr lang="en-US" sz="3499" spc="-104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d</a:t>
            </a:r>
            <a:r>
              <a:rPr lang="en-US" sz="3499" spc="-104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a</a:t>
            </a:r>
            <a:r>
              <a:rPr lang="en-US" sz="3499" spc="-104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de</a:t>
            </a:r>
            <a:r>
              <a:rPr lang="en-US" sz="3499" spc="-104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 d</a:t>
            </a:r>
            <a:r>
              <a:rPr lang="en-US" sz="3499" spc="-104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o</a:t>
            </a:r>
            <a:r>
              <a:rPr lang="en-US" sz="3499" spc="-104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 </a:t>
            </a:r>
            <a:r>
              <a:rPr lang="en-US" sz="3499" spc="-104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progr</a:t>
            </a:r>
            <a:r>
              <a:rPr lang="en-US" sz="3499" spc="-104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a</a:t>
            </a:r>
            <a:r>
              <a:rPr lang="en-US" sz="3499" spc="-104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m</a:t>
            </a:r>
            <a:r>
              <a:rPr lang="en-US" sz="3499" spc="-104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a</a:t>
            </a:r>
            <a:r>
              <a:rPr lang="en-US" sz="3499" spc="-104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dor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74913" y="1142999"/>
            <a:ext cx="13844400" cy="1028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 spc="-240">
                <a:solidFill>
                  <a:srgbClr val="00263B"/>
                </a:solidFill>
                <a:latin typeface="Cerebri Bold"/>
                <a:ea typeface="Cerebri Bold"/>
                <a:cs typeface="Cerebri Bold"/>
                <a:sym typeface="Cerebri Bold"/>
              </a:rPr>
              <a:t>Limitações e Cuidados no Uso de IA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19652" y="8668797"/>
            <a:ext cx="1179006" cy="1179006"/>
          </a:xfrm>
          <a:custGeom>
            <a:avLst/>
            <a:gdLst/>
            <a:ahLst/>
            <a:cxnLst/>
            <a:rect r="r" b="b" t="t" l="l"/>
            <a:pathLst>
              <a:path h="1179006" w="1179006">
                <a:moveTo>
                  <a:pt x="0" y="0"/>
                </a:moveTo>
                <a:lnTo>
                  <a:pt x="1179006" y="0"/>
                </a:lnTo>
                <a:lnTo>
                  <a:pt x="1179006" y="1179006"/>
                </a:lnTo>
                <a:lnTo>
                  <a:pt x="0" y="11790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96997" y="8871350"/>
            <a:ext cx="565449" cy="744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40"/>
              </a:lnSpc>
            </a:pPr>
            <a:r>
              <a:rPr lang="en-US" b="true" sz="3886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566988"/>
            <a:ext cx="16230600" cy="5558119"/>
            <a:chOff x="0" y="0"/>
            <a:chExt cx="4274726" cy="14638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1463867"/>
            </a:xfrm>
            <a:custGeom>
              <a:avLst/>
              <a:gdLst/>
              <a:ahLst/>
              <a:cxnLst/>
              <a:rect r="r" b="b" t="t" l="l"/>
              <a:pathLst>
                <a:path h="14638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1463867"/>
                  </a:lnTo>
                  <a:lnTo>
                    <a:pt x="0" y="1463867"/>
                  </a:lnTo>
                  <a:close/>
                </a:path>
              </a:pathLst>
            </a:custGeom>
            <a:ln w="57150" cap="sq">
              <a:solidFill>
                <a:srgbClr val="00263B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274726" cy="15210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874913" y="3274360"/>
            <a:ext cx="14538174" cy="2600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7" indent="-377824" lvl="1">
              <a:lnSpc>
                <a:spcPts val="5249"/>
              </a:lnSpc>
              <a:buFont typeface="Arial"/>
              <a:buChar char="•"/>
            </a:pPr>
            <a:r>
              <a:rPr lang="en-US" sz="3499" spc="-104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Uso transpa</a:t>
            </a:r>
            <a:r>
              <a:rPr lang="en-US" sz="3499" spc="-104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rent</a:t>
            </a:r>
            <a:r>
              <a:rPr lang="en-US" sz="3499" spc="-104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e</a:t>
            </a:r>
            <a:r>
              <a:rPr lang="en-US" sz="3499" spc="-104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 da</a:t>
            </a:r>
            <a:r>
              <a:rPr lang="en-US" sz="3499" spc="-104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 IA</a:t>
            </a:r>
          </a:p>
          <a:p>
            <a:pPr algn="l" marL="755647" indent="-377824" lvl="1">
              <a:lnSpc>
                <a:spcPts val="5249"/>
              </a:lnSpc>
              <a:buFont typeface="Arial"/>
              <a:buChar char="•"/>
            </a:pPr>
            <a:r>
              <a:rPr lang="en-US" sz="3499" spc="-104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Apoio, não substituição</a:t>
            </a:r>
          </a:p>
          <a:p>
            <a:pPr algn="l" marL="755647" indent="-377824" lvl="1">
              <a:lnSpc>
                <a:spcPts val="5249"/>
              </a:lnSpc>
              <a:buFont typeface="Arial"/>
              <a:buChar char="•"/>
            </a:pPr>
            <a:r>
              <a:rPr lang="en-US" sz="3499" spc="-104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Aprendizagem ativa</a:t>
            </a:r>
          </a:p>
          <a:p>
            <a:pPr algn="l" marL="755647" indent="-377824" lvl="1">
              <a:lnSpc>
                <a:spcPts val="5249"/>
              </a:lnSpc>
              <a:buFont typeface="Arial"/>
              <a:buChar char="•"/>
            </a:pPr>
            <a:r>
              <a:rPr lang="en-US" sz="3499" spc="-104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Al</a:t>
            </a:r>
            <a:r>
              <a:rPr lang="en-US" sz="3499" spc="-104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inhamento c</a:t>
            </a:r>
            <a:r>
              <a:rPr lang="en-US" sz="3499" spc="-104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o</a:t>
            </a:r>
            <a:r>
              <a:rPr lang="en-US" sz="3499" spc="-104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m p</a:t>
            </a:r>
            <a:r>
              <a:rPr lang="en-US" sz="3499" spc="-104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ri</a:t>
            </a:r>
            <a:r>
              <a:rPr lang="en-US" sz="3499" spc="-104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ncípios</a:t>
            </a:r>
            <a:r>
              <a:rPr lang="en-US" sz="3499" spc="-104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 a</a:t>
            </a:r>
            <a:r>
              <a:rPr lang="en-US" sz="3499" spc="-104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c</a:t>
            </a:r>
            <a:r>
              <a:rPr lang="en-US" sz="3499" spc="-104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a</a:t>
            </a:r>
            <a:r>
              <a:rPr lang="en-US" sz="3499" spc="-104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démicos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74913" y="1142999"/>
            <a:ext cx="13844400" cy="1028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 spc="-240">
                <a:solidFill>
                  <a:srgbClr val="00263B"/>
                </a:solidFill>
                <a:latin typeface="Cerebri Bold"/>
                <a:ea typeface="Cerebri Bold"/>
                <a:cs typeface="Cerebri Bold"/>
                <a:sym typeface="Cerebri Bold"/>
              </a:rPr>
              <a:t>Enquadramento Ético e Académico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19652" y="8668797"/>
            <a:ext cx="1179006" cy="1179006"/>
          </a:xfrm>
          <a:custGeom>
            <a:avLst/>
            <a:gdLst/>
            <a:ahLst/>
            <a:cxnLst/>
            <a:rect r="r" b="b" t="t" l="l"/>
            <a:pathLst>
              <a:path h="1179006" w="1179006">
                <a:moveTo>
                  <a:pt x="0" y="0"/>
                </a:moveTo>
                <a:lnTo>
                  <a:pt x="1179006" y="0"/>
                </a:lnTo>
                <a:lnTo>
                  <a:pt x="1179006" y="1179006"/>
                </a:lnTo>
                <a:lnTo>
                  <a:pt x="0" y="11790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96997" y="8871350"/>
            <a:ext cx="565449" cy="744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40"/>
              </a:lnSpc>
            </a:pPr>
            <a:r>
              <a:rPr lang="en-US" b="true" sz="3886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2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2607695" y="5000099"/>
            <a:ext cx="3528036" cy="15590"/>
          </a:xfrm>
          <a:prstGeom prst="line">
            <a:avLst/>
          </a:prstGeom>
          <a:ln cap="rnd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3923979" y="4839710"/>
            <a:ext cx="225845" cy="289597"/>
            <a:chOff x="0" y="0"/>
            <a:chExt cx="633869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3869" cy="812800"/>
            </a:xfrm>
            <a:custGeom>
              <a:avLst/>
              <a:gdLst/>
              <a:ahLst/>
              <a:cxnLst/>
              <a:rect r="r" b="b" t="t" l="l"/>
              <a:pathLst>
                <a:path h="812800" w="633869">
                  <a:moveTo>
                    <a:pt x="316934" y="0"/>
                  </a:moveTo>
                  <a:cubicBezTo>
                    <a:pt x="141896" y="0"/>
                    <a:pt x="0" y="181951"/>
                    <a:pt x="0" y="406400"/>
                  </a:cubicBezTo>
                  <a:cubicBezTo>
                    <a:pt x="0" y="630849"/>
                    <a:pt x="141896" y="812800"/>
                    <a:pt x="316934" y="812800"/>
                  </a:cubicBezTo>
                  <a:cubicBezTo>
                    <a:pt x="491973" y="812800"/>
                    <a:pt x="633869" y="630849"/>
                    <a:pt x="633869" y="406400"/>
                  </a:cubicBezTo>
                  <a:cubicBezTo>
                    <a:pt x="633869" y="181951"/>
                    <a:pt x="491973" y="0"/>
                    <a:pt x="31693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59425" y="19050"/>
              <a:ext cx="515019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258333" y="4839710"/>
            <a:ext cx="225845" cy="289597"/>
            <a:chOff x="0" y="0"/>
            <a:chExt cx="633869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3869" cy="812800"/>
            </a:xfrm>
            <a:custGeom>
              <a:avLst/>
              <a:gdLst/>
              <a:ahLst/>
              <a:cxnLst/>
              <a:rect r="r" b="b" t="t" l="l"/>
              <a:pathLst>
                <a:path h="812800" w="633869">
                  <a:moveTo>
                    <a:pt x="316934" y="0"/>
                  </a:moveTo>
                  <a:cubicBezTo>
                    <a:pt x="141896" y="0"/>
                    <a:pt x="0" y="181951"/>
                    <a:pt x="0" y="406400"/>
                  </a:cubicBezTo>
                  <a:cubicBezTo>
                    <a:pt x="0" y="630849"/>
                    <a:pt x="141896" y="812800"/>
                    <a:pt x="316934" y="812800"/>
                  </a:cubicBezTo>
                  <a:cubicBezTo>
                    <a:pt x="491973" y="812800"/>
                    <a:pt x="633869" y="630849"/>
                    <a:pt x="633869" y="406400"/>
                  </a:cubicBezTo>
                  <a:cubicBezTo>
                    <a:pt x="633869" y="181951"/>
                    <a:pt x="491973" y="0"/>
                    <a:pt x="31693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59425" y="19050"/>
              <a:ext cx="515019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593602" y="4839710"/>
            <a:ext cx="225845" cy="289597"/>
            <a:chOff x="0" y="0"/>
            <a:chExt cx="633869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3869" cy="812800"/>
            </a:xfrm>
            <a:custGeom>
              <a:avLst/>
              <a:gdLst/>
              <a:ahLst/>
              <a:cxnLst/>
              <a:rect r="r" b="b" t="t" l="l"/>
              <a:pathLst>
                <a:path h="812800" w="633869">
                  <a:moveTo>
                    <a:pt x="316934" y="0"/>
                  </a:moveTo>
                  <a:cubicBezTo>
                    <a:pt x="141896" y="0"/>
                    <a:pt x="0" y="181951"/>
                    <a:pt x="0" y="406400"/>
                  </a:cubicBezTo>
                  <a:cubicBezTo>
                    <a:pt x="0" y="630849"/>
                    <a:pt x="141896" y="812800"/>
                    <a:pt x="316934" y="812800"/>
                  </a:cubicBezTo>
                  <a:cubicBezTo>
                    <a:pt x="491973" y="812800"/>
                    <a:pt x="633869" y="630849"/>
                    <a:pt x="633869" y="406400"/>
                  </a:cubicBezTo>
                  <a:cubicBezTo>
                    <a:pt x="633869" y="181951"/>
                    <a:pt x="491973" y="0"/>
                    <a:pt x="31693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59425" y="19050"/>
              <a:ext cx="515019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8777855" y="76200"/>
            <a:ext cx="9507329" cy="10106215"/>
          </a:xfrm>
          <a:custGeom>
            <a:avLst/>
            <a:gdLst/>
            <a:ahLst/>
            <a:cxnLst/>
            <a:rect r="r" b="b" t="t" l="l"/>
            <a:pathLst>
              <a:path h="10106215" w="9507329">
                <a:moveTo>
                  <a:pt x="0" y="0"/>
                </a:moveTo>
                <a:lnTo>
                  <a:pt x="9507329" y="0"/>
                </a:lnTo>
                <a:lnTo>
                  <a:pt x="9507329" y="10106215"/>
                </a:lnTo>
                <a:lnTo>
                  <a:pt x="0" y="101062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13" id="13"/>
          <p:cNvSpPr txBox="true"/>
          <p:nvPr/>
        </p:nvSpPr>
        <p:spPr>
          <a:xfrm rot="0">
            <a:off x="228600" y="2891658"/>
            <a:ext cx="8511155" cy="1707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74"/>
              </a:lnSpc>
            </a:pPr>
            <a:r>
              <a:rPr lang="en-US" sz="4910" spc="-196">
                <a:solidFill>
                  <a:srgbClr val="FFFFFF"/>
                </a:solidFill>
                <a:latin typeface="Cerebri"/>
                <a:ea typeface="Cerebri"/>
                <a:cs typeface="Cerebri"/>
                <a:sym typeface="Cerebri"/>
              </a:rPr>
              <a:t>Demonstração do Sistema de Gestão de Avaliações Escolares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723900" y="8497347"/>
            <a:ext cx="1179006" cy="1179006"/>
          </a:xfrm>
          <a:custGeom>
            <a:avLst/>
            <a:gdLst/>
            <a:ahLst/>
            <a:cxnLst/>
            <a:rect r="r" b="b" t="t" l="l"/>
            <a:pathLst>
              <a:path h="1179006" w="1179006">
                <a:moveTo>
                  <a:pt x="0" y="0"/>
                </a:moveTo>
                <a:lnTo>
                  <a:pt x="1179006" y="0"/>
                </a:lnTo>
                <a:lnTo>
                  <a:pt x="1179006" y="1179006"/>
                </a:lnTo>
                <a:lnTo>
                  <a:pt x="0" y="11790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01245" y="8699900"/>
            <a:ext cx="565449" cy="744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40"/>
              </a:lnSpc>
            </a:pPr>
            <a:r>
              <a:rPr lang="en-US" b="true" sz="3886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79302" y="2816132"/>
            <a:ext cx="14725369" cy="4272244"/>
            <a:chOff x="0" y="0"/>
            <a:chExt cx="3878287" cy="11252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78287" cy="1125200"/>
            </a:xfrm>
            <a:custGeom>
              <a:avLst/>
              <a:gdLst/>
              <a:ahLst/>
              <a:cxnLst/>
              <a:rect r="r" b="b" t="t" l="l"/>
              <a:pathLst>
                <a:path h="1125200" w="3878287">
                  <a:moveTo>
                    <a:pt x="0" y="0"/>
                  </a:moveTo>
                  <a:lnTo>
                    <a:pt x="3878287" y="0"/>
                  </a:lnTo>
                  <a:lnTo>
                    <a:pt x="3878287" y="1125200"/>
                  </a:lnTo>
                  <a:lnTo>
                    <a:pt x="0" y="1125200"/>
                  </a:lnTo>
                  <a:close/>
                </a:path>
              </a:pathLst>
            </a:custGeom>
            <a:ln w="57150" cap="sq">
              <a:solidFill>
                <a:srgbClr val="00263B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3878287" cy="1182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619652" y="8668797"/>
            <a:ext cx="1179006" cy="1179006"/>
          </a:xfrm>
          <a:custGeom>
            <a:avLst/>
            <a:gdLst/>
            <a:ahLst/>
            <a:cxnLst/>
            <a:rect r="r" b="b" t="t" l="l"/>
            <a:pathLst>
              <a:path h="1179006" w="1179006">
                <a:moveTo>
                  <a:pt x="0" y="0"/>
                </a:moveTo>
                <a:lnTo>
                  <a:pt x="1179006" y="0"/>
                </a:lnTo>
                <a:lnTo>
                  <a:pt x="1179006" y="1179006"/>
                </a:lnTo>
                <a:lnTo>
                  <a:pt x="0" y="11790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98658" y="3196569"/>
            <a:ext cx="13285927" cy="2556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979" indent="-367490" lvl="1">
              <a:lnSpc>
                <a:spcPts val="5106"/>
              </a:lnSpc>
              <a:buFont typeface="Arial"/>
              <a:buChar char="•"/>
            </a:pP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Conclusão do módulo UFCD</a:t>
            </a:r>
          </a:p>
          <a:p>
            <a:pPr algn="l" marL="734979" indent="-367490" lvl="1">
              <a:lnSpc>
                <a:spcPts val="5106"/>
              </a:lnSpc>
              <a:buFont typeface="Arial"/>
              <a:buChar char="•"/>
            </a:pP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Gráf</a:t>
            </a: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icos</a:t>
            </a: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 de acompanhamento</a:t>
            </a:r>
          </a:p>
          <a:p>
            <a:pPr algn="l" marL="734979" indent="-367490" lvl="1">
              <a:lnSpc>
                <a:spcPts val="5106"/>
              </a:lnSpc>
              <a:buFont typeface="Arial"/>
              <a:buChar char="•"/>
            </a:pP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Relatórios por turma e aluno</a:t>
            </a:r>
          </a:p>
          <a:p>
            <a:pPr algn="l" marL="734979" indent="-367490" lvl="1">
              <a:lnSpc>
                <a:spcPts val="5106"/>
              </a:lnSpc>
              <a:buFont typeface="Arial"/>
              <a:buChar char="•"/>
            </a:pP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Melhorias</a:t>
            </a: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 n</a:t>
            </a: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a interf</a:t>
            </a: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ace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79302" y="1276350"/>
            <a:ext cx="14725369" cy="1028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 spc="-240">
                <a:solidFill>
                  <a:srgbClr val="00263B"/>
                </a:solidFill>
                <a:latin typeface="Cerebri Bold"/>
                <a:ea typeface="Cerebri Bold"/>
                <a:cs typeface="Cerebri Bold"/>
                <a:sym typeface="Cerebri Bold"/>
              </a:rPr>
              <a:t>Próximas Alterações e Melhorias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6997" y="8871350"/>
            <a:ext cx="565449" cy="744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40"/>
              </a:lnSpc>
            </a:pPr>
            <a:r>
              <a:rPr lang="en-US" b="true" sz="3886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79302" y="2816132"/>
            <a:ext cx="14725369" cy="4272244"/>
            <a:chOff x="0" y="0"/>
            <a:chExt cx="3878287" cy="11252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78287" cy="1125200"/>
            </a:xfrm>
            <a:custGeom>
              <a:avLst/>
              <a:gdLst/>
              <a:ahLst/>
              <a:cxnLst/>
              <a:rect r="r" b="b" t="t" l="l"/>
              <a:pathLst>
                <a:path h="1125200" w="3878287">
                  <a:moveTo>
                    <a:pt x="0" y="0"/>
                  </a:moveTo>
                  <a:lnTo>
                    <a:pt x="3878287" y="0"/>
                  </a:lnTo>
                  <a:lnTo>
                    <a:pt x="3878287" y="1125200"/>
                  </a:lnTo>
                  <a:lnTo>
                    <a:pt x="0" y="1125200"/>
                  </a:lnTo>
                  <a:close/>
                </a:path>
              </a:pathLst>
            </a:custGeom>
            <a:ln w="57150" cap="sq">
              <a:solidFill>
                <a:srgbClr val="00263B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3878287" cy="1182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619652" y="8668797"/>
            <a:ext cx="1179006" cy="1179006"/>
          </a:xfrm>
          <a:custGeom>
            <a:avLst/>
            <a:gdLst/>
            <a:ahLst/>
            <a:cxnLst/>
            <a:rect r="r" b="b" t="t" l="l"/>
            <a:pathLst>
              <a:path h="1179006" w="1179006">
                <a:moveTo>
                  <a:pt x="0" y="0"/>
                </a:moveTo>
                <a:lnTo>
                  <a:pt x="1179006" y="0"/>
                </a:lnTo>
                <a:lnTo>
                  <a:pt x="1179006" y="1179006"/>
                </a:lnTo>
                <a:lnTo>
                  <a:pt x="0" y="11790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98658" y="3339444"/>
            <a:ext cx="13285927" cy="2556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979" indent="-367490" lvl="1">
              <a:lnSpc>
                <a:spcPts val="5106"/>
              </a:lnSpc>
              <a:buFont typeface="Arial"/>
              <a:buChar char="•"/>
            </a:pP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Projeto com aplicação real</a:t>
            </a:r>
          </a:p>
          <a:p>
            <a:pPr algn="l" marL="734979" indent="-367490" lvl="1">
              <a:lnSpc>
                <a:spcPts val="5106"/>
              </a:lnSpc>
              <a:buFont typeface="Arial"/>
              <a:buChar char="•"/>
            </a:pP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Arquitetu</a:t>
            </a: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ra</a:t>
            </a: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 modular</a:t>
            </a:r>
          </a:p>
          <a:p>
            <a:pPr algn="l" marL="734979" indent="-367490" lvl="1">
              <a:lnSpc>
                <a:spcPts val="5106"/>
              </a:lnSpc>
              <a:buFont typeface="Arial"/>
              <a:buChar char="•"/>
            </a:pP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Regras de negócio bem definidas</a:t>
            </a:r>
          </a:p>
          <a:p>
            <a:pPr algn="l" marL="734979" indent="-367490" lvl="1">
              <a:lnSpc>
                <a:spcPts val="5106"/>
              </a:lnSpc>
              <a:buFont typeface="Arial"/>
              <a:buChar char="•"/>
            </a:pP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Base sólid</a:t>
            </a: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a</a:t>
            </a: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 para evolução</a:t>
            </a:r>
            <a:r>
              <a:rPr lang="en-US" sz="3404" spc="-102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 futura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489580" y="1276350"/>
            <a:ext cx="9308840" cy="1028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 spc="-240">
                <a:solidFill>
                  <a:srgbClr val="00263B"/>
                </a:solidFill>
                <a:latin typeface="Cerebri Bold"/>
                <a:ea typeface="Cerebri Bold"/>
                <a:cs typeface="Cerebri Bold"/>
                <a:sym typeface="Cerebri Bold"/>
              </a:rPr>
              <a:t>Considerações Finais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6997" y="8871350"/>
            <a:ext cx="565449" cy="744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40"/>
              </a:lnSpc>
            </a:pPr>
            <a:r>
              <a:rPr lang="en-US" b="true" sz="3886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77" r="0" b="-927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04171" y="570325"/>
            <a:ext cx="17279659" cy="9146351"/>
            <a:chOff x="0" y="0"/>
            <a:chExt cx="4551021" cy="24089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51021" cy="2408916"/>
            </a:xfrm>
            <a:custGeom>
              <a:avLst/>
              <a:gdLst/>
              <a:ahLst/>
              <a:cxnLst/>
              <a:rect r="r" b="b" t="t" l="l"/>
              <a:pathLst>
                <a:path h="2408916" w="4551021">
                  <a:moveTo>
                    <a:pt x="0" y="0"/>
                  </a:moveTo>
                  <a:lnTo>
                    <a:pt x="4551021" y="0"/>
                  </a:lnTo>
                  <a:lnTo>
                    <a:pt x="4551021" y="2408916"/>
                  </a:lnTo>
                  <a:lnTo>
                    <a:pt x="0" y="2408916"/>
                  </a:lnTo>
                  <a:close/>
                </a:path>
              </a:pathLst>
            </a:custGeom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551021" cy="24660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rot="-11847">
            <a:off x="6380067" y="5230018"/>
            <a:ext cx="5527867" cy="0"/>
          </a:xfrm>
          <a:prstGeom prst="line">
            <a:avLst/>
          </a:prstGeom>
          <a:ln cap="rnd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8442477" y="5043563"/>
            <a:ext cx="353861" cy="353861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966352" y="5043563"/>
            <a:ext cx="353861" cy="353861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491662" y="5043563"/>
            <a:ext cx="353861" cy="353861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2652445" y="3490988"/>
            <a:ext cx="13335535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spc="-240">
                <a:solidFill>
                  <a:srgbClr val="FFFFFF"/>
                </a:solidFill>
                <a:latin typeface="Cerebri"/>
                <a:ea typeface="Cerebri"/>
                <a:cs typeface="Cerebri"/>
                <a:sym typeface="Cerebri"/>
              </a:rPr>
              <a:t>Obrigada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923821" y="6231184"/>
            <a:ext cx="426486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3499" spc="-104">
                <a:solidFill>
                  <a:srgbClr val="FFFFFF"/>
                </a:solidFill>
                <a:latin typeface="Cerebri"/>
                <a:ea typeface="Cerebri"/>
                <a:cs typeface="Cerebri"/>
                <a:sym typeface="Cerebri"/>
              </a:rPr>
              <a:t>Ileana Souza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994416" y="6755059"/>
            <a:ext cx="612223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3499" spc="-104">
                <a:solidFill>
                  <a:srgbClr val="FFFFFF"/>
                </a:solidFill>
                <a:latin typeface="Cerebri"/>
                <a:ea typeface="Cerebri"/>
                <a:cs typeface="Cerebri"/>
                <a:sym typeface="Cerebri"/>
              </a:rPr>
              <a:t>a046152@umaia.pt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180210" y="7802809"/>
            <a:ext cx="792757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3499" spc="-104">
                <a:solidFill>
                  <a:srgbClr val="FFFFFF"/>
                </a:solidFill>
                <a:latin typeface="Cerebri"/>
                <a:ea typeface="Cerebri"/>
                <a:cs typeface="Cerebri"/>
                <a:sym typeface="Cerebri"/>
              </a:rPr>
              <a:t>Universidade da Maia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218310" y="8402884"/>
            <a:ext cx="792757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3499" spc="-104">
                <a:solidFill>
                  <a:srgbClr val="FFFFFF"/>
                </a:solidFill>
                <a:latin typeface="Cerebri"/>
                <a:ea typeface="Cerebri"/>
                <a:cs typeface="Cerebri"/>
                <a:sym typeface="Cerebri"/>
              </a:rPr>
              <a:t>Mestrado em Informática (E-Learning)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DAHAvjkkcis</dc:identifier>
  <dcterms:modified xsi:type="dcterms:W3CDTF">2011-08-01T06:04:30Z</dcterms:modified>
  <cp:revision>1</cp:revision>
  <dc:title>Projeto ADS - Sistema de Gestão de Avaliações Escolares (13-02-2026)</dc:title>
</cp:coreProperties>
</file>